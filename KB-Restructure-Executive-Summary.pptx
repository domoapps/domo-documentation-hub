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2"/>
    <p:restoredTop sz="94647"/>
  </p:normalViewPr>
  <p:slideViewPr>
    <p:cSldViewPr snapToGrid="0" snapToObjects="1">
      <p:cViewPr varScale="1">
        <p:scale>
          <a:sx n="149" d="100"/>
          <a:sy n="149" d="100"/>
        </p:scale>
        <p:origin x="19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98079" y="2926080"/>
            <a:ext cx="4690872" cy="393192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54864" cy="1828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28600"/>
            <a:ext cx="1828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i="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Knowledge Base Restructure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603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B0C4DE"/>
                </a:solidFill>
                <a:latin typeface="Calibri"/>
              </a:rPr>
              <a:t>Transforming a feature encyclopedia into a narrative-driven
product story — meeting users where they 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C9BAA"/>
                </a:solidFill>
                <a:latin typeface="Calibri"/>
              </a:rPr>
              <a:t>June 2026  ·  Domo Documentation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D6E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4552" cy="2743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94944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2D6E"/>
                </a:solidFill>
                <a:latin typeface="Calibri"/>
              </a:rPr>
              <a:t>"We have ~1,822 articles — 70% task-oriented how-tos — and almost none explain what Domo is, how its pieces fit together, or where to go next."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463040"/>
            <a:ext cx="2697480" cy="132588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5361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1,822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2128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Total KB Articles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463040"/>
            <a:ext cx="2697480" cy="1325880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55848" y="15361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~70%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22128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How-To Guides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9048" y="1463040"/>
            <a:ext cx="2697480" cy="132588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0488" y="15361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~2%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2128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Tutorials &amp; Explanations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33688" y="1463040"/>
            <a:ext cx="2697480" cy="132588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5128" y="1536192"/>
            <a:ext cx="2514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335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2212848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Nav Groups  (22× too many)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Content Type Gap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91840"/>
            <a:ext cx="55321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291840"/>
            <a:ext cx="64008" cy="320040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3328416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4B5C"/>
                </a:solidFill>
                <a:latin typeface="Calibri"/>
              </a:rPr>
              <a:t>Tutorial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328416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Walk user through X for the first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328416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D4B5C"/>
                </a:solidFill>
                <a:latin typeface="Calibri"/>
              </a:rPr>
              <a:t>~5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666744"/>
            <a:ext cx="55321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57200" y="3666744"/>
            <a:ext cx="64008" cy="320040"/>
          </a:xfrm>
          <a:prstGeom prst="rect">
            <a:avLst/>
          </a:prstGeom>
          <a:solidFill>
            <a:srgbClr val="00A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3703320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4B5C"/>
                </a:solidFill>
                <a:latin typeface="Calibri"/>
              </a:rPr>
              <a:t>How-To Guide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703320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Task-focused procedures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3703320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D4B5C"/>
                </a:solidFill>
                <a:latin typeface="Calibri"/>
              </a:rPr>
              <a:t>~1,280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41648"/>
            <a:ext cx="55321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041648"/>
            <a:ext cx="64008" cy="32004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078224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4B5C"/>
                </a:solidFill>
                <a:latin typeface="Calibri"/>
              </a:rPr>
              <a:t>Reference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078224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Definitions &amp; technical lookups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4078224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D4B5C"/>
                </a:solidFill>
                <a:latin typeface="Calibri"/>
              </a:rPr>
              <a:t>~270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416552"/>
            <a:ext cx="55321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7200" y="4416552"/>
            <a:ext cx="64008" cy="320040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" y="4453128"/>
            <a:ext cx="1280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D4B5C"/>
                </a:solidFill>
                <a:latin typeface="Calibri"/>
              </a:rPr>
              <a:t>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453128"/>
            <a:ext cx="32918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Conceptual 'why it works this way'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453128"/>
            <a:ext cx="7772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3D4B5C"/>
                </a:solidFill>
                <a:latin typeface="Calibri"/>
              </a:rPr>
              <a:t>~20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D6E"/>
                </a:solidFill>
                <a:latin typeface="Calibri"/>
              </a:rPr>
              <a:t>Structural Issues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5120" y="3291840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75120" y="3291840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39712" y="333756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66% of filenames are opaque Zendesk numeric IDs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666744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675120" y="3666744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39712" y="3712463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0 'What is X?' concept articles for any core product area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75120" y="4041648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675120" y="4041648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39712" y="4087368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Only 4 role-based getting-started guides (need 6+)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675120" y="4416552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675120" y="4416552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39712" y="4462272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No section hubs — every article is a navigation dead end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675120" y="4791456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6675120" y="4791456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39712" y="4837176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800+ connector articles with no organizing hub or category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675120" y="5166360"/>
            <a:ext cx="5303520" cy="320040"/>
          </a:xfrm>
          <a:prstGeom prst="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675120" y="5166360"/>
            <a:ext cx="64008" cy="32004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39712" y="5212080"/>
            <a:ext cx="5029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D4B5C"/>
                </a:solidFill>
                <a:latin typeface="Calibri"/>
              </a:rPr>
              <a:t>3 overlapping Workbench sections (Enterprise / 5 / 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Vision &amp;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94360"/>
            <a:ext cx="11274552" cy="2743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94944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0C4DE"/>
                </a:solidFill>
                <a:latin typeface="Calibri"/>
              </a:rPr>
              <a:t>Transform the Domo KB from a feature encyclopedia into a narrative-driven product story — one that meets users where they are and guides them along a clear path to competency and mastery.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486400" cy="3977639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CF"/>
                </a:solidFill>
                <a:latin typeface="Calibri"/>
              </a:rPr>
              <a:t>The Diátaxis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01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  <a:latin typeface="Calibri"/>
              </a:rPr>
              <a:t>Structure content by user need-state, not product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76272"/>
            <a:ext cx="5212080" cy="6858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176272"/>
            <a:ext cx="64008" cy="68580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23113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Tutorial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505456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Learning → first-time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3113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6CF"/>
                </a:solidFill>
                <a:latin typeface="Calibri"/>
              </a:rPr>
              <a:t>Have: ~5   Target: 20+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53512"/>
            <a:ext cx="5212080" cy="6858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94360" y="2953512"/>
            <a:ext cx="64008" cy="68580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3008376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How-To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82696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Doing → accomplish a specific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00837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6BC5"/>
                </a:solidFill>
                <a:latin typeface="Calibri"/>
              </a:rPr>
              <a:t>Have: ~1,280 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730752"/>
            <a:ext cx="5212080" cy="6858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94360" y="3730752"/>
            <a:ext cx="64008" cy="685800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8096" y="378561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059936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Looking up → definitions &amp; specs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78561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A000"/>
                </a:solidFill>
                <a:latin typeface="Calibri"/>
              </a:rPr>
              <a:t>Have: ~270 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507992"/>
            <a:ext cx="5212080" cy="68580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4507992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" y="45628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4837176"/>
            <a:ext cx="4754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CC"/>
                </a:solidFill>
                <a:latin typeface="Calibri"/>
              </a:rPr>
              <a:t>Understanding → why it works this 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0280" y="4562855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00"/>
                </a:solidFill>
                <a:latin typeface="Calibri"/>
              </a:rPr>
              <a:t>Have: ~20   Target: 30+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1417320"/>
            <a:ext cx="5486400" cy="3977639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82512" y="15087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CF"/>
                </a:solidFill>
                <a:latin typeface="Calibri"/>
              </a:rPr>
              <a:t>The Domo Story Arc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2512" y="18013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C4DE"/>
                </a:solidFill>
                <a:latin typeface="Calibri"/>
              </a:rPr>
              <a:t>Every section has a clear place; users always see where to go next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2176272"/>
            <a:ext cx="5212080" cy="347472"/>
          </a:xfrm>
          <a:prstGeom prst="rect">
            <a:avLst/>
          </a:prstGeom>
          <a:solidFill>
            <a:srgbClr val="004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82512" y="221284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222199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What is Domo?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2542032"/>
            <a:ext cx="521208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82512" y="257860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84848" y="258775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First Login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82512" y="2907791"/>
            <a:ext cx="5212080" cy="347472"/>
          </a:xfrm>
          <a:prstGeom prst="rect">
            <a:avLst/>
          </a:prstGeom>
          <a:solidFill>
            <a:srgbClr val="004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294436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84848" y="295351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Bring In Data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82512" y="3273551"/>
            <a:ext cx="521208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382512" y="3310127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3330754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Manage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82512" y="3639311"/>
            <a:ext cx="5212080" cy="347472"/>
          </a:xfrm>
          <a:prstGeom prst="rect">
            <a:avLst/>
          </a:prstGeom>
          <a:solidFill>
            <a:srgbClr val="004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82512" y="3675887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84848" y="368503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Prepare &amp; Transform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4005072"/>
            <a:ext cx="521208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82512" y="404164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84848" y="4050791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Analyze &amp; Visualize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82512" y="4370832"/>
            <a:ext cx="5212080" cy="347472"/>
          </a:xfrm>
          <a:prstGeom prst="rect">
            <a:avLst/>
          </a:prstGeom>
          <a:solidFill>
            <a:srgbClr val="004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82512" y="440740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84848" y="441655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Share &amp; Act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82512" y="4736592"/>
            <a:ext cx="521208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82512" y="477316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84848" y="47823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Build &amp; Automate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82512" y="5102352"/>
            <a:ext cx="5212080" cy="347472"/>
          </a:xfrm>
          <a:prstGeom prst="rect">
            <a:avLst/>
          </a:prstGeom>
          <a:solidFill>
            <a:srgbClr val="0045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382512" y="513892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84848" y="514807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Govern &amp; Administer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82512" y="5468112"/>
            <a:ext cx="521208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82512" y="5504688"/>
            <a:ext cx="3840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C6CF"/>
                </a:solidFill>
                <a:latin typeface="Calibr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84848" y="551383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Go Deeper  (AI · Dev · Advanced)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5559552"/>
            <a:ext cx="11274552" cy="502920"/>
          </a:xfrm>
          <a:prstGeom prst="rect">
            <a:avLst/>
          </a:prstGeom>
          <a:solidFill>
            <a:srgbClr val="051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565099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 dirty="0">
                <a:solidFill>
                  <a:srgbClr val="00C6CF"/>
                </a:solidFill>
                <a:latin typeface="Calibri"/>
              </a:rPr>
              <a:t>Design Principles: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14600" y="5605272"/>
            <a:ext cx="233172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606040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FFFFFF"/>
                </a:solidFill>
                <a:latin typeface="Calibri"/>
              </a:rPr>
              <a:t>Progressive Disclosure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965192" y="5605272"/>
            <a:ext cx="233172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56631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FFFFFF"/>
                </a:solidFill>
                <a:latin typeface="Calibri"/>
              </a:rPr>
              <a:t>Topic Cluster Hubs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15783" y="5605272"/>
            <a:ext cx="233172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07223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Role-Based Entry Points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66376" y="5605272"/>
            <a:ext cx="2331720" cy="3474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957815" y="565099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 dirty="0">
                <a:solidFill>
                  <a:srgbClr val="FFFFFF"/>
                </a:solidFill>
                <a:latin typeface="Calibri"/>
              </a:rPr>
              <a:t>Systematic Interlinking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D6E"/>
                </a:solidFill>
                <a:latin typeface="Calibri"/>
              </a:rPr>
              <a:t>New Information Architecture: 12 Content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D4B5C"/>
                </a:solidFill>
                <a:latin typeface="Calibri"/>
              </a:rPr>
              <a:t>Collapsing 335 navigation groups into 12 coherent, story-driven sections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86384"/>
            <a:ext cx="11274552" cy="2743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877824"/>
            <a:ext cx="2816352" cy="12618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93192" y="877824"/>
            <a:ext cx="2816352" cy="54864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4632" y="987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31673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Getting Started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1664207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34 existing · 5 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11095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Critical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10128" y="877824"/>
            <a:ext cx="2816352" cy="126187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10128" y="877824"/>
            <a:ext cx="28163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01568" y="987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131673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Connect &amp; Bring In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664207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1,050 existing · 4 new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1911095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27064" y="877824"/>
            <a:ext cx="2816352" cy="12618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27064" y="877824"/>
            <a:ext cx="2816352" cy="54864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18503" y="987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3" y="131673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Manage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3" y="1664207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0–31 existing · 3 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8503" y="1911095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Critical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877824"/>
            <a:ext cx="2816352" cy="12618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144000" y="877824"/>
            <a:ext cx="2816352" cy="54864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987552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316736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Prepare &amp; Transform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1664207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101 existing · 4 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1911095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" y="2231136"/>
            <a:ext cx="2816352" cy="126187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93192" y="2231136"/>
            <a:ext cx="2816352" cy="54864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4632" y="2340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26700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Analyze &amp; Visualize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3017520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230 existing · 4 new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32644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Critical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0128" y="2231136"/>
            <a:ext cx="2816352" cy="12618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310128" y="2231136"/>
            <a:ext cx="28163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01568" y="2340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26700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Build Apps &amp; Automate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3017520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106 existing · 3 new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32644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Medium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27064" y="2231136"/>
            <a:ext cx="2816352" cy="12618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227064" y="2231136"/>
            <a:ext cx="28163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18503" y="2340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3" y="26700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Share &amp; Collaborate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18503" y="3017520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51 existing · 2 new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18503" y="32644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Medium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44000" y="2231136"/>
            <a:ext cx="2816352" cy="126187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144000" y="2231136"/>
            <a:ext cx="28163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235440" y="2340864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2670048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AI &amp; Data Science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3017520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41 existing · 3 new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35440" y="3264408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Medium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" y="3584448"/>
            <a:ext cx="2816352" cy="1261872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93192" y="3584448"/>
            <a:ext cx="2816352" cy="54864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84632" y="3694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4632" y="4023360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Administer &amp; Govern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4632" y="4370832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72 existing · 3 new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632" y="461772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Medium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310128" y="3584448"/>
            <a:ext cx="2816352" cy="126187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310128" y="3584448"/>
            <a:ext cx="28163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01568" y="3694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01568" y="4023360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Develop &amp; Integrate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01568" y="4370832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5 existing · 4 new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01568" y="461772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High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227064" y="3584448"/>
            <a:ext cx="2816352" cy="1261872"/>
          </a:xfrm>
          <a:prstGeom prst="rect">
            <a:avLst/>
          </a:prstGeom>
          <a:solidFill>
            <a:srgbClr val="3D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227064" y="3584448"/>
            <a:ext cx="2816352" cy="54864"/>
          </a:xfrm>
          <a:prstGeom prst="rect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18503" y="3694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18503" y="4023360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Release 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18503" y="4370832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65 existing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18503" y="461772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0" y="3584448"/>
            <a:ext cx="2816352" cy="1261872"/>
          </a:xfrm>
          <a:prstGeom prst="rect">
            <a:avLst/>
          </a:prstGeom>
          <a:solidFill>
            <a:srgbClr val="3D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144000" y="3584448"/>
            <a:ext cx="2816352" cy="54864"/>
          </a:xfrm>
          <a:prstGeom prst="rect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235440" y="3694176"/>
            <a:ext cx="45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235440" y="4023360"/>
            <a:ext cx="2633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Archive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235440" y="4370832"/>
            <a:ext cx="26334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EE"/>
                </a:solidFill>
                <a:latin typeface="Calibri"/>
              </a:rPr>
              <a:t>64 articles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35440" y="4617720"/>
            <a:ext cx="2633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DDAA"/>
                </a:solidFill>
                <a:latin typeface="Calibri"/>
              </a:rPr>
              <a:t>Priority: 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153912"/>
            <a:ext cx="11274552" cy="411480"/>
          </a:xfrm>
          <a:prstGeom prst="rect">
            <a:avLst/>
          </a:prstGeom>
          <a:solidFill>
            <a:srgbClr val="E0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594360" y="62179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D4B5C"/>
                </a:solidFill>
                <a:latin typeface="Calibri"/>
              </a:rPr>
              <a:t>Priority: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508760" y="6254496"/>
            <a:ext cx="164592" cy="164592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737360" y="6217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B5C"/>
                </a:solidFill>
                <a:latin typeface="Calibri"/>
              </a:rPr>
              <a:t>Critical — write now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160520" y="6254496"/>
            <a:ext cx="164592" cy="16459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89120" y="6217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B5C"/>
                </a:solidFill>
                <a:latin typeface="Calibri"/>
              </a:rPr>
              <a:t>High — severely thin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812279" y="6254496"/>
            <a:ext cx="164592" cy="164592"/>
          </a:xfrm>
          <a:prstGeom prst="rect">
            <a:avLst/>
          </a:prstGeom>
          <a:solidFill>
            <a:srgbClr val="C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040879" y="6217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B5C"/>
                </a:solidFill>
                <a:latin typeface="Calibri"/>
              </a:rPr>
              <a:t>Medium — next sprint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464040" y="6254496"/>
            <a:ext cx="164592" cy="164592"/>
          </a:xfrm>
          <a:prstGeom prst="rect">
            <a:avLst/>
          </a:prstGeom>
          <a:solidFill>
            <a:srgbClr val="8C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9692640" y="6217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D4B5C"/>
                </a:solidFill>
                <a:latin typeface="Calibri"/>
              </a:rPr>
              <a:t>No new articles needed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What We're Building: ~33 New 'Glue' Articles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4DE"/>
                </a:solidFill>
                <a:latin typeface="Calibri"/>
              </a:rPr>
              <a:t>Synthesize from existing how-tos first — procedural articles already contain most conceptual raw material.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850392"/>
            <a:ext cx="11274552" cy="2743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8912" y="960120"/>
            <a:ext cx="3566160" cy="347472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0058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Tier 1 — Story Entry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" y="1389888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" y="1426464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Domo?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" y="1719072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" y="175564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Getting Started for Admins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" y="2048255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208483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Getting Started for App Builders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2377439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" y="2414015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Getting Started for Developers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960120"/>
            <a:ext cx="3566160" cy="34747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15968" y="10058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Tier 2 — Core Concept Articles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24528" y="1389888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79392" y="1426464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 DataSet?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24528" y="1719072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175564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Magic ETL?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24528" y="2048255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79392" y="208483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 DataFlow?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4528" y="2377439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79392" y="2414015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 Card?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24528" y="2706623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274319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 Dashboard?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24528" y="3035807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279392" y="3072383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Beast Mode?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24528" y="3364991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79392" y="3401567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App Studio?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24528" y="3694175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373075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an Alert?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24528" y="4023359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279392" y="4059935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a Connector?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24528" y="4352544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79392" y="438912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Domo AI?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24528" y="4681728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79392" y="4718304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What is Workbench?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10144" y="960120"/>
            <a:ext cx="3566160" cy="34747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01583" y="10058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Tier 3 — Section Hub Articles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10144" y="1389888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65008" y="1426464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Connect &amp; Bring In Data Overview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10144" y="1719072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65008" y="1755648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Prepare &amp; Transform Data Overview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10144" y="2048255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65008" y="208483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Analyze &amp; Visualize Overview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10144" y="2377439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065008" y="2414015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Build Apps &amp; Automate Overview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10144" y="2706623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065008" y="2743199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Share &amp; Collaborate Overview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10144" y="3035807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65008" y="3072383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AI &amp; Data Science Overview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010144" y="3364991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065008" y="3401567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Administer &amp; Govern Overview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10144" y="3694175"/>
            <a:ext cx="3566160" cy="301752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65008" y="3730751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  Develop &amp; Integrate Overview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8912" y="5559552"/>
            <a:ext cx="11311128" cy="1005840"/>
          </a:xfrm>
          <a:prstGeom prst="rect">
            <a:avLst/>
          </a:prstGeom>
          <a:solidFill>
            <a:srgbClr val="35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560527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00"/>
                </a:solidFill>
                <a:latin typeface="Calibri"/>
              </a:rPr>
              <a:t>4 Articles Require PM Sign-off Before Writing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94360" y="5943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How Data Flows Through Domo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4360" y="6199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8888"/>
                </a:solidFill>
                <a:latin typeface="Calibri"/>
              </a:rPr>
              <a:t>Canonical end-to-end pipeline narrative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4720" y="5943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Choosing the Right Data Prep Tool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474720" y="6199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8888"/>
                </a:solidFill>
                <a:latin typeface="Calibri"/>
              </a:rPr>
              <a:t>ETL vs SQL vs Python positioning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79" y="5943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Understanding DataSet Joins &amp; Relationships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355079" y="6199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8888"/>
                </a:solidFill>
                <a:latin typeface="Calibri"/>
              </a:rPr>
              <a:t>Use-case decision guidance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35440" y="5943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Domo for Mobile Overview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35440" y="61996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A8888"/>
                </a:solidFill>
                <a:latin typeface="Calibri"/>
              </a:rPr>
              <a:t>Confirm current mobile feature scope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2D6E"/>
                </a:solidFill>
                <a:latin typeface="Calibri"/>
              </a:rPr>
              <a:t>Execution Roadmap: 7 Phases  ·  6–8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48640"/>
            <a:ext cx="11274552" cy="27432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02336" y="658368"/>
            <a:ext cx="5376672" cy="118872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02336" y="65836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108813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7223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Audit &amp; Inventory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2412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Build machine-readable catalog of all 1,822 articles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27101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Classify by Diátaxis type (tutorial/how-to/reference/explanation)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51790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Identify orphans, near-duplicates, and content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1627632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1–2 days  ·  Script + Agent  ·  COMPLETE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0176" y="658368"/>
            <a:ext cx="5376672" cy="118872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0176" y="65836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16752" y="108813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72237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IA Redesign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102412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Finalize 12-pillar structure and hub-and-spoke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27101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Resolve 9 open decisions (D1–D9)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151790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Lock connector/CDW/writeback section framing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1627632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2–3 days  ·  Human + Agent  ·  COMPLETE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1938528"/>
            <a:ext cx="5376672" cy="118872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2336" y="193852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236829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7" y="20025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Content Creation — New Articles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7" y="230428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Write ~29 synthesizable glue articles (skills: new-kb-article, new-overview-article)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255117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Synthesize from existing how-tos; no raw invention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279806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Must author in main session (sub-agent write-block)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2907791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2–3 weeks  ·  Human (main session)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80176" y="1938528"/>
            <a:ext cx="5376672" cy="11887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980176" y="193852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16752" y="236829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200253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Article Upgrades (~200 articles)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230428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Add concept intro to every article missing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19088" y="255117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Append Next Steps (2–4 forward links) to every article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19088" y="279806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Agent-parallelizable in batches of 25–50 (Edit only)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9088" y="2907791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2–3 days  ·  Agent (batch)  ·  Parallel with 3a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" y="3218688"/>
            <a:ext cx="5376672" cy="1188720"/>
          </a:xfrm>
          <a:prstGeom prst="rect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02336" y="321868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8912" y="36484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" y="32826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Consolidation &amp; Retirement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" y="358444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Merge Workbench version variants; collapse old release notes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" y="383133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Archive Workbench 4 (37 EOL articles)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" y="407822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Retire stubs &lt; 100 words and deprecated-tagged articles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7" y="4187952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~1 week  ·  Human + Agent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80176" y="3218688"/>
            <a:ext cx="5376672" cy="118872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80176" y="321868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16752" y="36484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19088" y="328269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Interlinking &amp; Pathways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358444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Related Articles sections + Next Steps on all articles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19088" y="383133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Role-pathway CardGroup blocks on all section hubs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078224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'You Are Here' breadcrumb context at top of deep articles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19088" y="4187952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2–3 days  ·  Agent (batch)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4498848"/>
            <a:ext cx="5376672" cy="118872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02336" y="4498848"/>
            <a:ext cx="347472" cy="1188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38912" y="492861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7" y="4562856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Rename to Slugs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7" y="4864608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Replace 1,575 opaque numeric IDs with human-readable slugs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7" y="5111496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Update all internal links; generate SEO redirect map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7" y="5358383"/>
            <a:ext cx="48646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DEEFF"/>
                </a:solidFill>
                <a:latin typeface="Calibri"/>
              </a:rPr>
              <a:t>• Atomic git commit; runs after Phase 3a completes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1247" y="5468112"/>
            <a:ext cx="4864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C6CF"/>
                </a:solidFill>
                <a:latin typeface="Calibri"/>
              </a:rPr>
              <a:t>1–2 days  ·  Script + human review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93252" y="4884384"/>
            <a:ext cx="5268858" cy="694944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02336" y="4992624"/>
            <a:ext cx="347472" cy="3840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9768" y="5020056"/>
            <a:ext cx="292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72940" y="5029200"/>
            <a:ext cx="485822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Nav Rebuild  —  Rebuild docs.json to implement 12-pillar IA; validate all file references; handle orphaned articles   ·   2–3 days  ·  Agent + Human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4412" y="452170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3D4B5C"/>
                </a:solidFill>
                <a:latin typeface="Calibri"/>
              </a:rPr>
              <a:t>Phases 3a &amp; 3b/5 run in parallel after Phase 1.  Phase 6 (rename) runs after 3a to avoid renaming active files.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806440"/>
            <a:ext cx="11274552" cy="68580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58368" y="5852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Phase 1–2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Complete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962656" y="5852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Phase 3a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62656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2–3 weeks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66944" y="5852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Phase 3b–5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66944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~1 week (parallel)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71231" y="5852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Phase 6–7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71231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3–5 days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875519" y="58521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  <a:latin typeface="Calibri"/>
              </a:rPr>
              <a:t>TOTAL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75519" y="61081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6–8 weeks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Key Risks &amp; Open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576072"/>
            <a:ext cx="11274552" cy="27432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CF"/>
                </a:solidFill>
                <a:latin typeface="Calibri"/>
              </a:rPr>
              <a:t>Risks &amp; Mitigations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106424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Broken internal links after slug rename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399031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Link-updater script + nav validator (exit 1 on any broken ref) before deploy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10512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810512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1792" y="186537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SEO / bookmarks broken by migration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15798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Full redirect map generated before rename runs; maintained in Mintlify config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69464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2569464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2624328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Sub-agents can't create new 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9169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Net-new articles authored in main session only; agents use Edit on existing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328416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328416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383280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Merges accidentally lose unique content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367588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Merge agents diff source articles first; all decisions require human 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87368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087368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4142231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Style drift in new articles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44348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All new articles go through new-kb-article / new-overview-article skill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46320"/>
            <a:ext cx="5577840" cy="68580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57200" y="4846320"/>
            <a:ext cx="64008" cy="68580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" y="4901183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Legacy content removed too aggressively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19379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AABBCC"/>
                </a:solidFill>
                <a:latin typeface="Calibri"/>
              </a:rPr>
              <a:t>Articles archived (not deleted); removals are additive nav moves, not deletions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6858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6CF"/>
                </a:solidFill>
                <a:latin typeface="Calibri"/>
              </a:rPr>
              <a:t>Open Decisions (9 Require Sign-off)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1051560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9360" y="1051560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36792" y="1216151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10972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Workbench 4 articles (37) — archive?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1399031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 ·  Recommend: Archive — EOL product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1764792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309360" y="1764792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36792" y="192938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1810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Projects &amp; Tasks (10) — still active vs. Workflows?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2112264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/ PM  ·  Check if feature still maintained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2478024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309360" y="2478024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36792" y="264261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252374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Premium Apps (65) — audit for currency?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2825496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/ PM  ·  Many may be outdated Appstore apps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3191256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309360" y="3191256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336792" y="335584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2280" y="323697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'Build Your First Dashboard' — move to Analyze pillar?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3538728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 ·  Recommend: Yes — currently misplaced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3904488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309360" y="3904488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336792" y="4069080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3950208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'Intro to Domo' (000005874) — keep alongside new What is Domo?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12280" y="4251960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 ·  Recommend: Keep as deep-dive companion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09360" y="4617720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309360" y="4617720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336792" y="4782312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12280" y="46634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Develop &amp; Integrate scope — KB vs. developer.domo.com?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2280" y="4965192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Dev PM  ·  Clarify developer portal boundary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309360" y="5330952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6309360" y="5330952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336792" y="5495544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2280" y="53766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Data Models (1 article, Beta) — expand or hold?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2280" y="5678424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/ PM  ·  Recommend: Hold until feature ships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09360" y="6044184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309360" y="6044184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336792" y="6208776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12280" y="6089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Instance Settings (39) — sub-group or keep flat?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12280" y="6391656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 ·  Recommend: Keep flat for now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09360" y="6757416"/>
            <a:ext cx="5577840" cy="649224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309360" y="6757416"/>
            <a:ext cx="411480" cy="649224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336792" y="6922008"/>
            <a:ext cx="347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12280" y="6803136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Which DataSet Management articles move to Manage Data?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12280" y="7104888"/>
            <a:ext cx="49377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88AACC"/>
                </a:solidFill>
                <a:latin typeface="Calibri"/>
              </a:rPr>
              <a:t>Owner: You / PM  ·  Pipeline stays; governance articles move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1274552" cy="27432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11274552" cy="411480"/>
          </a:xfrm>
          <a:prstGeom prst="rect">
            <a:avLst/>
          </a:prstGeom>
          <a:solidFill>
            <a:srgbClr val="00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80467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Phases 1 &amp; 2 Complete — Audit done, IA spec approved, article mapping generated. Ready for Phase 3a.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3767328" cy="4434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" y="1261872"/>
            <a:ext cx="3767328" cy="411480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" y="1298448"/>
            <a:ext cx="3584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Immediate — This Sprint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" y="1819656"/>
            <a:ext cx="82296" cy="82296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" y="1764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Resolve 9 open decisions (D1–D9) to unblock Phase 7 nav rebuild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" y="2340864"/>
            <a:ext cx="82296" cy="82296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286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Get PM sign-off on 4 PM-required articles before drafting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2862072"/>
            <a:ext cx="82296" cy="82296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2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Begin Tier 1: What is Domo? + Getting Started for Admins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3383279"/>
            <a:ext cx="82296" cy="82296"/>
          </a:xfrm>
          <a:prstGeom prst="rect">
            <a:avLst/>
          </a:prstGeom>
          <a:solidFill>
            <a:srgbClr val="E02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" y="332841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Begin Tier 1: Getting Started for App Builders &amp; Developers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79976" y="1261872"/>
            <a:ext cx="3767328" cy="4434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79976" y="1261872"/>
            <a:ext cx="3767328" cy="411480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1298448"/>
            <a:ext cx="3584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3a — New Content  (2–3 Weeks)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9704" y="1819656"/>
            <a:ext cx="82296" cy="82296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8" y="1764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Write all ~29 synthesizable articles in priority order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9704" y="2340864"/>
            <a:ext cx="82296" cy="82296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2286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Use new-kb-article or new-overview-article skill for 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9704" y="2862072"/>
            <a:ext cx="82296" cy="82296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36008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Add each to nav with add-to-nav skill immediately after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9704" y="3383279"/>
            <a:ext cx="82296" cy="82296"/>
          </a:xfrm>
          <a:prstGeom prst="rect">
            <a:avLst/>
          </a:prstGeom>
          <a:solidFill>
            <a:srgbClr val="006B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36008" y="332841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PM review recommended before publishing Tier 1 articles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48471" y="1261872"/>
            <a:ext cx="3767328" cy="4434840"/>
          </a:xfrm>
          <a:prstGeom prst="rect">
            <a:avLst/>
          </a:prstGeom>
          <a:solidFill>
            <a:srgbClr val="0A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48471" y="1261872"/>
            <a:ext cx="3767328" cy="4114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58199" y="1298448"/>
            <a:ext cx="35844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Phase 3b–5 — Bulk Agent Work  (Parallel)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199" y="1819656"/>
            <a:ext cx="82296" cy="82296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04503" y="1764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Agent batch: add concept intros to ~200 articles missing them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58199" y="2340864"/>
            <a:ext cx="82296" cy="82296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04503" y="22860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Agent batch: add Next Steps + Related Articles to all articles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58199" y="2862072"/>
            <a:ext cx="82296" cy="82296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04503" y="280720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Consolidate &amp; retire: merge Workbench versions, archive legacy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199" y="3383279"/>
            <a:ext cx="82296" cy="82296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4503" y="3328415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  <a:latin typeface="Calibri"/>
              </a:rPr>
              <a:t>Add role-pathway hub cards and breadcrumb context lines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833872"/>
            <a:ext cx="11274552" cy="685800"/>
          </a:xfrm>
          <a:prstGeom prst="rect">
            <a:avLst/>
          </a:prstGeom>
          <a:solidFill>
            <a:srgbClr val="05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4360" y="588873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C6CF"/>
                </a:solidFill>
                <a:latin typeface="Calibri"/>
              </a:rPr>
              <a:t>Success Metrics: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87168" y="5943600"/>
            <a:ext cx="109728" cy="1828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670048" y="5907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335 groups → 12 pillars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07408" y="5943600"/>
            <a:ext cx="109728" cy="1828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90288" y="5907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0 → 29 hub/concept articles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27648" y="5943600"/>
            <a:ext cx="109728" cy="1828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10528" y="5907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4 → 6 role-based guides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47888" y="5943600"/>
            <a:ext cx="109728" cy="1828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430767" y="5907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1,575 IDs → readable slugs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68128" y="5943600"/>
            <a:ext cx="109728" cy="182880"/>
          </a:xfrm>
          <a:prstGeom prst="rect">
            <a:avLst/>
          </a:prstGeom>
          <a:solidFill>
            <a:srgbClr val="00C6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351007" y="590702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Every article has 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1675</Words>
  <Application>Microsoft Macintosh PowerPoint</Application>
  <PresentationFormat>Custom</PresentationFormat>
  <Paragraphs>290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Jared Peterson</cp:lastModifiedBy>
  <cp:revision>3</cp:revision>
  <dcterms:created xsi:type="dcterms:W3CDTF">2013-01-27T09:14:16Z</dcterms:created>
  <dcterms:modified xsi:type="dcterms:W3CDTF">2026-06-23T22:17:22Z</dcterms:modified>
  <cp:category/>
</cp:coreProperties>
</file>